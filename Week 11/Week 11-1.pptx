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0" r:id="rId4"/>
  </p:sldMasterIdLst>
  <p:notesMasterIdLst>
    <p:notesMasterId r:id="rId59"/>
  </p:notesMasterIdLst>
  <p:handoutMasterIdLst>
    <p:handoutMasterId r:id="rId60"/>
  </p:handoutMasterIdLst>
  <p:sldIdLst>
    <p:sldId id="587" r:id="rId5"/>
    <p:sldId id="256" r:id="rId6"/>
    <p:sldId id="313" r:id="rId7"/>
    <p:sldId id="311" r:id="rId8"/>
    <p:sldId id="306" r:id="rId9"/>
    <p:sldId id="307" r:id="rId10"/>
    <p:sldId id="308" r:id="rId11"/>
    <p:sldId id="277" r:id="rId12"/>
    <p:sldId id="257" r:id="rId13"/>
    <p:sldId id="367" r:id="rId14"/>
    <p:sldId id="312" r:id="rId15"/>
    <p:sldId id="278" r:id="rId16"/>
    <p:sldId id="279" r:id="rId17"/>
    <p:sldId id="259" r:id="rId18"/>
    <p:sldId id="260" r:id="rId19"/>
    <p:sldId id="310" r:id="rId20"/>
    <p:sldId id="305" r:id="rId21"/>
    <p:sldId id="275" r:id="rId22"/>
    <p:sldId id="276" r:id="rId23"/>
    <p:sldId id="267" r:id="rId24"/>
    <p:sldId id="261" r:id="rId25"/>
    <p:sldId id="264" r:id="rId26"/>
    <p:sldId id="265" r:id="rId27"/>
    <p:sldId id="266" r:id="rId28"/>
    <p:sldId id="271" r:id="rId29"/>
    <p:sldId id="272" r:id="rId30"/>
    <p:sldId id="273" r:id="rId31"/>
    <p:sldId id="268" r:id="rId32"/>
    <p:sldId id="263" r:id="rId33"/>
    <p:sldId id="269" r:id="rId34"/>
    <p:sldId id="280" r:id="rId35"/>
    <p:sldId id="281" r:id="rId36"/>
    <p:sldId id="282" r:id="rId37"/>
    <p:sldId id="270" r:id="rId38"/>
    <p:sldId id="274" r:id="rId39"/>
    <p:sldId id="283" r:id="rId40"/>
    <p:sldId id="284" r:id="rId41"/>
    <p:sldId id="285" r:id="rId42"/>
    <p:sldId id="286" r:id="rId43"/>
    <p:sldId id="258" r:id="rId44"/>
    <p:sldId id="288" r:id="rId45"/>
    <p:sldId id="302" r:id="rId46"/>
    <p:sldId id="296" r:id="rId47"/>
    <p:sldId id="299" r:id="rId48"/>
    <p:sldId id="301" r:id="rId49"/>
    <p:sldId id="291" r:id="rId50"/>
    <p:sldId id="293" r:id="rId51"/>
    <p:sldId id="300" r:id="rId52"/>
    <p:sldId id="298" r:id="rId53"/>
    <p:sldId id="295" r:id="rId54"/>
    <p:sldId id="303" r:id="rId55"/>
    <p:sldId id="287" r:id="rId56"/>
    <p:sldId id="290" r:id="rId57"/>
    <p:sldId id="394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492" autoAdjust="0"/>
    <p:restoredTop sz="95382" autoAdjust="0"/>
  </p:normalViewPr>
  <p:slideViewPr>
    <p:cSldViewPr snapToGrid="0">
      <p:cViewPr varScale="1">
        <p:scale>
          <a:sx n="60" d="100"/>
          <a:sy n="60" d="100"/>
        </p:scale>
        <p:origin x="184" y="300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8/10/relationships/authors" Target="authors.xml"/><Relationship Id="rId5" Type="http://schemas.openxmlformats.org/officeDocument/2006/relationships/slide" Target="slides/slide1.xml"/><Relationship Id="rId61" Type="http://schemas.openxmlformats.org/officeDocument/2006/relationships/commentAuthors" Target="comment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http://xmlstar.sourceforge.net/doc/UG/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2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evtx_dump.py </a:t>
            </a:r>
            <a:r>
              <a:rPr lang="en-US" err="1"/>
              <a:t>Security.evtx</a:t>
            </a:r>
            <a:r>
              <a:rPr lang="en-US"/>
              <a:t> &gt; SecurityEvt.xml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55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evtx_dump.py </a:t>
            </a:r>
            <a:r>
              <a:rPr lang="en-US" dirty="0" err="1"/>
              <a:t>Security.evtx</a:t>
            </a:r>
            <a:r>
              <a:rPr lang="en-US" dirty="0"/>
              <a:t> &gt; SecurityEvt.xml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83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apt-get install </a:t>
            </a:r>
            <a:r>
              <a:rPr lang="en-US" dirty="0" err="1"/>
              <a:t>xmlstarlet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23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?xml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version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="1.0"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encoding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="UTF-8</a:t>
            </a:r>
            <a:r>
              <a:rPr lang="en-US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bookstore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category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="cooking"&gt;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lang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Everyday Italian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/title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Giada De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Laurentiis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/author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2005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/year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30.00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/price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/book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category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="children"&gt;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lang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Harry Potter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/title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K. Rowling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/author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2005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/year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29.99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/price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/book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book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category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="web"&gt;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lang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Learning XML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/title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Erik T. Ray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/author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2003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/year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39.95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/price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/book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/bookstore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24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https://www.w3schools.com/xml/xml_namespaces.asp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10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val</a:t>
            </a:r>
            <a:r>
              <a:rPr lang="en-US"/>
              <a:t>  SecurityEvt.xml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64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el -u SecurityEvt.xml </a:t>
            </a:r>
          </a:p>
          <a:p>
            <a:endParaRPr lang="en-US"/>
          </a:p>
          <a:p>
            <a:r>
              <a:rPr lang="en-US" err="1"/>
              <a:t>xmlstarlet</a:t>
            </a:r>
            <a:r>
              <a:rPr lang="en-US"/>
              <a:t> el -u SecurityEvt.xml 2&gt;/dev/null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69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el --help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70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el -v SecurityEvt.xml 2&gt;/dev/null | 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63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fo</a:t>
            </a:r>
            <a:r>
              <a:rPr lang="en-US"/>
              <a:t> -n SecurityEvt.xml | head -n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27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https://www.marklogic.com/blog/xpath-punctuation-part-1/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12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xmlstarlet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-N x="http://schemas.microsoft.com/win/2004/08/events/event" -t -m "//</a:t>
            </a:r>
            <a:r>
              <a:rPr lang="en-US" dirty="0" err="1"/>
              <a:t>x:Event</a:t>
            </a:r>
            <a:r>
              <a:rPr lang="en-US" dirty="0"/>
              <a:t>[1]" -c .  SecurityEvt.xml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9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xmlstarlet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-N x="http://schemas.microsoft.com/win/2004/08/events/event" -t -m "//</a:t>
            </a:r>
            <a:r>
              <a:rPr lang="en-US" dirty="0" err="1"/>
              <a:t>x:TimeCreated</a:t>
            </a:r>
            <a:r>
              <a:rPr lang="en-US" dirty="0"/>
              <a:t>" -c . -n SecurityEvt.xml</a:t>
            </a:r>
          </a:p>
          <a:p>
            <a:r>
              <a:rPr lang="en-US" dirty="0"/>
              <a:t>http://xmlstar.sourceforge.net/doc/UG/xmlstarlet-ug.html#idm47077139523728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13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xmlstarlet</a:t>
            </a:r>
            <a:r>
              <a:rPr lang="en-US" dirty="0"/>
              <a:t>  </a:t>
            </a:r>
            <a:r>
              <a:rPr lang="en-US" dirty="0" err="1"/>
              <a:t>sel</a:t>
            </a:r>
            <a:r>
              <a:rPr lang="en-US" dirty="0"/>
              <a:t> -N x="http://schemas.microsoft.com/win/2004/08/events/event" -t -m "//</a:t>
            </a:r>
            <a:r>
              <a:rPr lang="en-US" dirty="0" err="1"/>
              <a:t>x:EventID</a:t>
            </a:r>
            <a:r>
              <a:rPr lang="en-US" dirty="0"/>
              <a:t>[@Qualifiers]" -c . -n  SecurityEvt.xml | 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54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https://www.grymoire.com/Unix/Sed.html#uh-1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18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echo good morning | </a:t>
            </a:r>
            <a:r>
              <a:rPr lang="en-US" err="1"/>
              <a:t>sed</a:t>
            </a:r>
            <a:r>
              <a:rPr lang="en-US"/>
              <a:t> "s/morning/afternoon/"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22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https://www.grymoire.com/Unix/Sed.html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xmlstarlet</a:t>
            </a:r>
            <a:r>
              <a:rPr lang="en-US" dirty="0"/>
              <a:t>  </a:t>
            </a:r>
            <a:r>
              <a:rPr lang="en-US" dirty="0" err="1"/>
              <a:t>sel</a:t>
            </a:r>
            <a:r>
              <a:rPr lang="en-US" dirty="0"/>
              <a:t> -N x="http://schemas.microsoft.com/win/2004/08/events/event" -t -m "//</a:t>
            </a:r>
            <a:r>
              <a:rPr lang="en-US" dirty="0" err="1"/>
              <a:t>x:EventID</a:t>
            </a:r>
            <a:r>
              <a:rPr lang="en-US" dirty="0"/>
              <a:t>[@Qualifiers]" -c . -n  SecurityEvt.xml | head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15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 --help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34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sel</a:t>
            </a:r>
            <a:r>
              <a:rPr lang="en-US"/>
              <a:t> -N x="http://schemas.microsoft.com/win/2004/08/events/event" -t -m "//</a:t>
            </a:r>
            <a:r>
              <a:rPr lang="en-US" err="1"/>
              <a:t>x:Event</a:t>
            </a:r>
            <a:r>
              <a:rPr lang="en-US"/>
              <a:t>[1]" -c .  SecurityEvt.xml 2&gt;/dev/null &gt; SecurityEvent1.xml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65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  -N x="http://schemas.microsoft.com/win/2004/08/events/event" -d '//</a:t>
            </a:r>
            <a:r>
              <a:rPr lang="en-US" err="1"/>
              <a:t>x:Level</a:t>
            </a:r>
            <a:r>
              <a:rPr lang="en-US"/>
              <a:t>' SecurityEvent1.xml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02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 -O  -N x="http://schemas.microsoft.com/win/2004/08/events/event" -d '//</a:t>
            </a:r>
            <a:r>
              <a:rPr lang="en-US" err="1"/>
              <a:t>x:Level</a:t>
            </a:r>
            <a:r>
              <a:rPr lang="en-US"/>
              <a:t>' SecurityEvent1.xml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02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http://xmlstar.sourceforge.net/doc/UG/xmlstarlet-ug.html#idm47077139529952</a:t>
            </a:r>
          </a:p>
          <a:p>
            <a:r>
              <a:rPr lang="pt-BR"/>
              <a:t>xml ed -N N="http://www.c.com/xyz" -d '//N:*' ns2.xml | \ sed -e 's/ xmlns.*=".*"//g'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554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xmlstarlet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-N x="http://schemas.microsoft.com/win/2004/08/events/event" -t -m "//</a:t>
            </a:r>
            <a:r>
              <a:rPr lang="en-US" dirty="0" err="1"/>
              <a:t>x:Event</a:t>
            </a:r>
            <a:r>
              <a:rPr lang="en-US" dirty="0"/>
              <a:t>[1]" -c .  SecurityEvt.xml 2&gt;/dev/null &gt; SecurityEvent1.xml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40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xmlstarlet</a:t>
            </a:r>
            <a:r>
              <a:rPr lang="en-US" dirty="0"/>
              <a:t> ed -O  -N x="http://schemas.microsoft.com/win/2004/08/events/event" -d '//</a:t>
            </a:r>
            <a:r>
              <a:rPr lang="en-US" dirty="0" err="1"/>
              <a:t>x:Level</a:t>
            </a:r>
            <a:r>
              <a:rPr lang="en-US" dirty="0"/>
              <a:t>' SecurityEvent1.xml | sed -e 's/</a:t>
            </a:r>
            <a:r>
              <a:rPr lang="en-US" dirty="0" err="1"/>
              <a:t>xmlns</a:t>
            </a:r>
            <a:r>
              <a:rPr lang="en-US" dirty="0"/>
              <a:t>.*=".*"//g'</a:t>
            </a:r>
          </a:p>
          <a:p>
            <a:endParaRPr lang="en-US" dirty="0"/>
          </a:p>
          <a:p>
            <a:r>
              <a:rPr lang="en-US" dirty="0"/>
              <a:t>http://xmlstar.sourceforge.net/doc/UG/xmlstarlet-ug.html#idm47077139529952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308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sel</a:t>
            </a:r>
            <a:r>
              <a:rPr lang="en-US"/>
              <a:t> -N x="http://schemas.microsoft.com/win/2004/08/events/event" -t -m "//</a:t>
            </a:r>
            <a:r>
              <a:rPr lang="en-US" err="1"/>
              <a:t>x:Event</a:t>
            </a:r>
            <a:r>
              <a:rPr lang="en-US"/>
              <a:t>[1]" -c .  SecurityEvt.xml 2&gt;/dev/null &gt; SecurityEvent1.xml</a:t>
            </a:r>
          </a:p>
          <a:p>
            <a:r>
              <a:rPr lang="en-US" err="1"/>
              <a:t>xmlstarlet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 -O  -N x="http://schemas.microsoft.com/win/2004/08/events/event" -d '//</a:t>
            </a:r>
            <a:r>
              <a:rPr lang="en-US" err="1"/>
              <a:t>x:Level</a:t>
            </a:r>
            <a:r>
              <a:rPr lang="en-US"/>
              <a:t>' SecurityEvent1.xml | </a:t>
            </a:r>
            <a:r>
              <a:rPr lang="en-US" err="1"/>
              <a:t>sed</a:t>
            </a:r>
            <a:r>
              <a:rPr lang="en-US"/>
              <a:t> -e 's/</a:t>
            </a:r>
            <a:r>
              <a:rPr lang="en-US" err="1"/>
              <a:t>xmlns</a:t>
            </a:r>
            <a:r>
              <a:rPr lang="en-US"/>
              <a:t>.*=".*"//g' &gt; SecurityEvent1_clean.xml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02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730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https://www.joyofdata.de/blog/transforming-xml-document-into-csv-using-xmlstarlet/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196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xmlstarlet</a:t>
            </a:r>
            <a:r>
              <a:rPr lang="en-US" dirty="0"/>
              <a:t> </a:t>
            </a:r>
            <a:r>
              <a:rPr lang="en-US" dirty="0" err="1"/>
              <a:t>sel</a:t>
            </a:r>
            <a:r>
              <a:rPr lang="en-US" dirty="0"/>
              <a:t> -T  -t -m /Event/System  -v "</a:t>
            </a:r>
            <a:r>
              <a:rPr lang="en-US" dirty="0" err="1"/>
              <a:t>concat</a:t>
            </a:r>
            <a:r>
              <a:rPr lang="en-US" dirty="0"/>
              <a:t>(</a:t>
            </a:r>
            <a:r>
              <a:rPr lang="en-US" dirty="0" err="1"/>
              <a:t>EventID</a:t>
            </a:r>
            <a:r>
              <a:rPr lang="en-US" dirty="0"/>
              <a:t>, ';' ,</a:t>
            </a:r>
            <a:r>
              <a:rPr lang="en-US" dirty="0" err="1"/>
              <a:t>TimeCreated</a:t>
            </a:r>
            <a:r>
              <a:rPr lang="en-US" dirty="0"/>
              <a:t>/@SystemTime)" -n SecurityEvent1_clean.xml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94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D5320FA-A1F3-F486-1CE1-2391A87E9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0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6A43347-9A54-441F-7AE7-76E9C1D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578A1FF-5DFF-84B4-763E-BCF31A2B9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47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FD859E0-9038-5FDE-AF05-577187494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0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82E113-5C20-576E-7F8A-DDAF1474B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0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8678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D30F82-19CB-F0AE-B6E1-9BDA9B67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4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9D2E31D-ACE9-522C-4669-60BDF72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B3DBE17-A58C-E6A6-78E0-B3F2347FE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0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C044064-2733-CF71-7E87-5581DA168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0E1C88F-68F0-E0CE-EFB0-1BA39547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2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9E578F-408A-FF38-FB5E-1B883417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0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58B37D8-F475-11FB-71A0-107B00D70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2A3B82-9E57-69F8-D7B3-C59A8B020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E14530A-0F72-386E-FF72-56BFBA1E2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8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EEF541C-2BAB-9A5B-A169-FC5C0BF75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27C9A57-2C08-1006-7E85-171C68DB4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91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15DBA8-47D7-70C3-419D-F6DEE4FCF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86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4B1808C-E5DF-EE44-51EF-1BA4CA197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90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03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85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92628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3352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1372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548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176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10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24485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72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73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2949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382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27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236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074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32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6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5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64" r:id="rId27"/>
    <p:sldLayoutId id="2147483765" r:id="rId28"/>
    <p:sldLayoutId id="2147483766" r:id="rId29"/>
    <p:sldLayoutId id="2147483767" r:id="rId30"/>
    <p:sldLayoutId id="2147483768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776210" cy="3200400"/>
          </a:xfrm>
        </p:spPr>
        <p:txBody>
          <a:bodyPr/>
          <a:lstStyle/>
          <a:p>
            <a:r>
              <a:rPr lang="en-US" dirty="0"/>
              <a:t>CSCI 352.61E</a:t>
            </a:r>
            <a:br>
              <a:rPr lang="en-US" dirty="0"/>
            </a:br>
            <a:r>
              <a:rPr lang="en-US" dirty="0"/>
              <a:t>Digital Forensics</a:t>
            </a:r>
          </a:p>
        </p:txBody>
      </p:sp>
      <p:pic>
        <p:nvPicPr>
          <p:cNvPr id="5" name="Picture 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C2C47D22-FAC1-E792-2F33-6AB87E22C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10" y="883919"/>
            <a:ext cx="4876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9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Investigate Data Leakage Case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Keywords: Windows Security Event Logs, XML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CD0E-37E2-135B-F511-8350B194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537B-70C1-6611-DDF6-0C8D07BDE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evidence </a:t>
            </a:r>
            <a:r>
              <a:rPr lang="en-US"/>
              <a:t>generated by </a:t>
            </a:r>
            <a:r>
              <a:rPr lang="en-US" dirty="0"/>
              <a:t>OS</a:t>
            </a:r>
          </a:p>
          <a:p>
            <a:r>
              <a:rPr lang="en-US" dirty="0"/>
              <a:t>Understand XML format</a:t>
            </a:r>
          </a:p>
          <a:p>
            <a:r>
              <a:rPr lang="en-US" dirty="0"/>
              <a:t>Know how to extract information from XML files</a:t>
            </a:r>
          </a:p>
        </p:txBody>
      </p:sp>
    </p:spTree>
    <p:extLst>
      <p:ext uri="{BB962C8B-B14F-4D97-AF65-F5344CB8AC3E}">
        <p14:creationId xmlns:p14="http://schemas.microsoft.com/office/powerpoint/2010/main" val="223873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A84B-65BD-439A-B94D-62C83D498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Layers of a computer system</a:t>
            </a:r>
          </a:p>
        </p:txBody>
      </p:sp>
      <p:pic>
        <p:nvPicPr>
          <p:cNvPr id="1026" name="Picture 2" descr="Technology layers from hardware to users.">
            <a:extLst>
              <a:ext uri="{FF2B5EF4-FFF2-40B4-BE49-F238E27FC236}">
                <a16:creationId xmlns:a16="http://schemas.microsoft.com/office/drawing/2014/main" id="{383A4A36-A8F1-4488-B678-B0A846360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533" y="1223778"/>
            <a:ext cx="8105747" cy="541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35AD8-5C2E-43B0-9DEE-1602D90C480F}"/>
              </a:ext>
            </a:extLst>
          </p:cNvPr>
          <p:cNvSpPr txBox="1"/>
          <p:nvPr/>
        </p:nvSpPr>
        <p:spPr>
          <a:xfrm>
            <a:off x="7189393" y="6566910"/>
            <a:ext cx="61768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https://windsongtraining.ca/</a:t>
            </a:r>
            <a:r>
              <a:rPr lang="en-US" sz="900" dirty="0"/>
              <a:t>the-technology-layer-cake-users-apps-os-and-hardware</a:t>
            </a:r>
            <a:r>
              <a:rPr lang="en-US" sz="1050" dirty="0"/>
              <a:t>/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1FF3E71-63E4-4E3A-83FB-207CA7A70BB5}"/>
              </a:ext>
            </a:extLst>
          </p:cNvPr>
          <p:cNvSpPr/>
          <p:nvPr/>
        </p:nvSpPr>
        <p:spPr>
          <a:xfrm>
            <a:off x="8943946" y="2245895"/>
            <a:ext cx="946484" cy="43210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F168C5-CA4C-4395-8075-B4EE8934D9AD}"/>
              </a:ext>
            </a:extLst>
          </p:cNvPr>
          <p:cNvSpPr txBox="1"/>
          <p:nvPr/>
        </p:nvSpPr>
        <p:spPr>
          <a:xfrm>
            <a:off x="10100096" y="2833571"/>
            <a:ext cx="1878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Evidence</a:t>
            </a:r>
            <a:r>
              <a:rPr lang="en-US" dirty="0"/>
              <a:t> is generated from each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</a:rPr>
              <a:t>User activities= Applications+ OS+ Disk/Memory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34F468CB-E7F3-D0F6-1E20-5416C4741A45}"/>
              </a:ext>
            </a:extLst>
          </p:cNvPr>
          <p:cNvSpPr/>
          <p:nvPr/>
        </p:nvSpPr>
        <p:spPr>
          <a:xfrm rot="3464319">
            <a:off x="8807288" y="4382189"/>
            <a:ext cx="273317" cy="5996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38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12.</a:t>
            </a:r>
            <a:r>
              <a:rPr lang="en-US" sz="2400" dirty="0"/>
              <a:t>	List all traces about the system on/off and the user logon/logoff (It should be considered only during a time range between 09:00 and 18:00 in the </a:t>
            </a:r>
            <a:r>
              <a:rPr lang="en-US" sz="2400" dirty="0" err="1"/>
              <a:t>timezone</a:t>
            </a:r>
            <a:r>
              <a:rPr lang="en-US" sz="2400" dirty="0"/>
              <a:t> (Eastern Time) from Question 4.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724089" cy="1816344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The Windows event log is a detailed record of system, security and application notifications stored by the Windows</a:t>
            </a:r>
          </a:p>
          <a:p>
            <a:r>
              <a:rPr lang="en-GB" dirty="0"/>
              <a:t>It’s a useful tool for </a:t>
            </a:r>
          </a:p>
          <a:p>
            <a:pPr lvl="1"/>
            <a:r>
              <a:rPr lang="en-GB" dirty="0"/>
              <a:t>troubleshooting all kinds of different Windows problems</a:t>
            </a:r>
          </a:p>
          <a:p>
            <a:pPr lvl="1"/>
            <a:r>
              <a:rPr lang="en-GB" dirty="0"/>
              <a:t>forensics analysis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DF9C26-00DF-42A2-8222-45044AEC9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78" y="3695923"/>
            <a:ext cx="1344724" cy="2699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A6A8911-5559-4027-A3A7-B0DAEF9E57CF}"/>
              </a:ext>
            </a:extLst>
          </p:cNvPr>
          <p:cNvSpPr/>
          <p:nvPr/>
        </p:nvSpPr>
        <p:spPr>
          <a:xfrm>
            <a:off x="2513541" y="5021486"/>
            <a:ext cx="203200" cy="995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0089FD-1362-4537-8760-C8FFA9EAD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9123" y="3671517"/>
            <a:ext cx="6241321" cy="2682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4E5EA4-4A33-078B-5461-C9CA2D086C02}"/>
              </a:ext>
            </a:extLst>
          </p:cNvPr>
          <p:cNvSpPr/>
          <p:nvPr/>
        </p:nvSpPr>
        <p:spPr>
          <a:xfrm>
            <a:off x="3392129" y="5493774"/>
            <a:ext cx="833284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ABFCD3-EA60-73B9-3B8D-D86A7834146B}"/>
              </a:ext>
            </a:extLst>
          </p:cNvPr>
          <p:cNvCxnSpPr/>
          <p:nvPr/>
        </p:nvCxnSpPr>
        <p:spPr>
          <a:xfrm flipV="1">
            <a:off x="4225413" y="4306529"/>
            <a:ext cx="1135626" cy="1305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68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F58510-DF37-4D01-9393-C9D571CB7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636" y="471791"/>
            <a:ext cx="7561010" cy="5914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BAA3C5-CB4D-45A7-9C2A-4F36C1719782}"/>
              </a:ext>
            </a:extLst>
          </p:cNvPr>
          <p:cNvSpPr txBox="1"/>
          <p:nvPr/>
        </p:nvSpPr>
        <p:spPr>
          <a:xfrm>
            <a:off x="6096000" y="631965"/>
            <a:ext cx="185749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Logon event 4624</a:t>
            </a:r>
          </a:p>
        </p:txBody>
      </p:sp>
    </p:spTree>
    <p:extLst>
      <p:ext uri="{BB962C8B-B14F-4D97-AF65-F5344CB8AC3E}">
        <p14:creationId xmlns:p14="http://schemas.microsoft.com/office/powerpoint/2010/main" val="305673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93FFAF-3A41-495F-89E5-A5172E40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search events?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2DDD4-AD77-487C-BE30-ADE9DBA7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506081" cy="4532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EB6DD8-F063-4B01-9846-0A255FFCA60C}"/>
              </a:ext>
            </a:extLst>
          </p:cNvPr>
          <p:cNvSpPr txBox="1"/>
          <p:nvPr/>
        </p:nvSpPr>
        <p:spPr>
          <a:xfrm>
            <a:off x="732981" y="1398469"/>
            <a:ext cx="6185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https://www.ultimatewindowssecurity.com/securitylog/encyclopedia/default.aspx</a:t>
            </a:r>
          </a:p>
        </p:txBody>
      </p:sp>
    </p:spTree>
    <p:extLst>
      <p:ext uri="{BB962C8B-B14F-4D97-AF65-F5344CB8AC3E}">
        <p14:creationId xmlns:p14="http://schemas.microsoft.com/office/powerpoint/2010/main" val="182317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 copy of security event log</a:t>
            </a:r>
          </a:p>
          <a:p>
            <a:r>
              <a:rPr lang="en-US" dirty="0"/>
              <a:t>Analyze the event log</a:t>
            </a:r>
          </a:p>
          <a:p>
            <a:pPr lvl="1"/>
            <a:r>
              <a:rPr lang="en-US" dirty="0"/>
              <a:t>Install XML parser (</a:t>
            </a:r>
            <a:r>
              <a:rPr lang="en-US" dirty="0" err="1"/>
              <a:t>xmlstarlet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Validating Security Event Log XML documents</a:t>
            </a:r>
          </a:p>
          <a:p>
            <a:pPr lvl="1"/>
            <a:r>
              <a:rPr lang="en-US" dirty="0"/>
              <a:t>Display element structure of XML document </a:t>
            </a:r>
          </a:p>
          <a:p>
            <a:pPr lvl="1"/>
            <a:r>
              <a:rPr lang="en-US" dirty="0"/>
              <a:t>Format XML document </a:t>
            </a:r>
          </a:p>
          <a:p>
            <a:pPr lvl="1"/>
            <a:r>
              <a:rPr lang="en-US" dirty="0"/>
              <a:t>Query XML documents </a:t>
            </a:r>
          </a:p>
          <a:p>
            <a:pPr lvl="1"/>
            <a:r>
              <a:rPr lang="en-US" dirty="0"/>
              <a:t>Modify or edit XML documents</a:t>
            </a:r>
          </a:p>
        </p:txBody>
      </p:sp>
    </p:spTree>
    <p:extLst>
      <p:ext uri="{BB962C8B-B14F-4D97-AF65-F5344CB8AC3E}">
        <p14:creationId xmlns:p14="http://schemas.microsoft.com/office/powerpoint/2010/main" val="413249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 copy of security event log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55406"/>
            <a:ext cx="8767519" cy="1942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766769"/>
            <a:ext cx="401828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Exam security event logs for logon/logoff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4352B-B7DB-4F2F-9E7A-1788BF39C2E1}"/>
              </a:ext>
            </a:extLst>
          </p:cNvPr>
          <p:cNvSpPr txBox="1"/>
          <p:nvPr/>
        </p:nvSpPr>
        <p:spPr>
          <a:xfrm>
            <a:off x="838200" y="4562628"/>
            <a:ext cx="10468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Notes</a:t>
            </a:r>
            <a:r>
              <a:rPr lang="en-GB" dirty="0"/>
              <a:t>: If you are not in root, you will see an error message. You need to check the permission of the lab folder </a:t>
            </a:r>
          </a:p>
          <a:p>
            <a:r>
              <a:rPr lang="en-GB" dirty="0"/>
              <a:t>See next slide debugs error messages if you see any.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57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80A98E-07B1-4509-BB5B-E0C419FA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34" y="1711876"/>
            <a:ext cx="7056732" cy="37798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962C63-FEE1-C44A-CF24-1C1520A18554}"/>
              </a:ext>
            </a:extLst>
          </p:cNvPr>
          <p:cNvSpPr txBox="1"/>
          <p:nvPr/>
        </p:nvSpPr>
        <p:spPr>
          <a:xfrm>
            <a:off x="1821305" y="846944"/>
            <a:ext cx="6236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Segoe Print" panose="02000600000000000000" pitchFamily="2" charset="0"/>
              </a:rPr>
              <a:t>switch to root if there is a permission problem</a:t>
            </a:r>
          </a:p>
        </p:txBody>
      </p:sp>
    </p:spTree>
    <p:extLst>
      <p:ext uri="{BB962C8B-B14F-4D97-AF65-F5344CB8AC3E}">
        <p14:creationId xmlns:p14="http://schemas.microsoft.com/office/powerpoint/2010/main" val="32253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04A4-E671-18DB-C6F6-501C74D9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B4C1-17D6-864E-BBE9-C3DB2F075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An XML file is an </a:t>
            </a:r>
            <a:r>
              <a:rPr lang="en-GB" dirty="0" err="1"/>
              <a:t>e</a:t>
            </a:r>
            <a:r>
              <a:rPr lang="en-GB" b="1" dirty="0" err="1">
                <a:solidFill>
                  <a:srgbClr val="FF0000"/>
                </a:solidFill>
              </a:rPr>
              <a:t>X</a:t>
            </a:r>
            <a:r>
              <a:rPr lang="en-GB" dirty="0" err="1"/>
              <a:t>tensible</a:t>
            </a:r>
            <a:r>
              <a:rPr lang="en-GB" dirty="0"/>
              <a:t> </a:t>
            </a:r>
            <a:r>
              <a:rPr lang="en-GB" b="1" dirty="0">
                <a:solidFill>
                  <a:srgbClr val="FF0000"/>
                </a:solidFill>
              </a:rPr>
              <a:t>M</a:t>
            </a:r>
            <a:r>
              <a:rPr lang="en-GB" dirty="0"/>
              <a:t>arkup </a:t>
            </a:r>
            <a:r>
              <a:rPr lang="en-GB" b="1" dirty="0">
                <a:solidFill>
                  <a:srgbClr val="FF0000"/>
                </a:solidFill>
              </a:rPr>
              <a:t>L</a:t>
            </a:r>
            <a:r>
              <a:rPr lang="en-GB" dirty="0"/>
              <a:t>anguage file that structures data for storage and transport. </a:t>
            </a:r>
          </a:p>
          <a:p>
            <a:r>
              <a:rPr lang="en-GB" dirty="0"/>
              <a:t>XML files can be used for various purposes</a:t>
            </a:r>
          </a:p>
          <a:p>
            <a:pPr lvl="1"/>
            <a:r>
              <a:rPr lang="en-GB" dirty="0"/>
              <a:t>Data transfer: XML files can store and retrieve data for different applications.</a:t>
            </a:r>
          </a:p>
          <a:p>
            <a:pPr lvl="1"/>
            <a:r>
              <a:rPr lang="en-GB" dirty="0"/>
              <a:t>Formatting documents: XML files can define how web pages or other documents are displayed.</a:t>
            </a:r>
          </a:p>
          <a:p>
            <a:pPr lvl="1"/>
            <a:r>
              <a:rPr lang="en-GB" dirty="0"/>
              <a:t>Web searching: XML files can help search engines index and rank web pages</a:t>
            </a:r>
          </a:p>
          <a:p>
            <a:pPr lvl="1"/>
            <a:r>
              <a:rPr lang="en-GB" dirty="0"/>
              <a:t>Creating layouts: XML files can design the user interface of mobile applications.</a:t>
            </a:r>
          </a:p>
          <a:p>
            <a:pPr lvl="1"/>
            <a:r>
              <a:rPr lang="en-GB" dirty="0"/>
              <a:t>Storing configuration data: XML files can store the settings and preferences of an application.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056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 XML parser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31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7030A0"/>
                </a:solidFill>
              </a:rPr>
              <a:t>xmlstarlet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set of command line utilities (tools) </a:t>
            </a:r>
          </a:p>
          <a:p>
            <a:pPr lvl="1"/>
            <a:r>
              <a:rPr lang="en-US" dirty="0"/>
              <a:t>transform, query, validate, and edit </a:t>
            </a:r>
            <a:r>
              <a:rPr lang="en-US" dirty="0">
                <a:solidFill>
                  <a:srgbClr val="FF0000"/>
                </a:solidFill>
              </a:rPr>
              <a:t>XML</a:t>
            </a:r>
            <a:r>
              <a:rPr lang="en-US" dirty="0"/>
              <a:t> documents and files </a:t>
            </a:r>
          </a:p>
          <a:p>
            <a:r>
              <a:rPr lang="en-US" dirty="0"/>
              <a:t>Using simple set of shell commands </a:t>
            </a:r>
          </a:p>
          <a:p>
            <a:pPr lvl="1"/>
            <a:r>
              <a:rPr lang="en-US" dirty="0"/>
              <a:t>Similar to </a:t>
            </a:r>
            <a:r>
              <a:rPr lang="en-US" i="1" dirty="0">
                <a:solidFill>
                  <a:srgbClr val="FF0000"/>
                </a:solidFill>
              </a:rPr>
              <a:t>grep, sed, awk</a:t>
            </a:r>
          </a:p>
          <a:p>
            <a:r>
              <a:rPr lang="en-US" dirty="0"/>
              <a:t>http://xmlstar.sourceforge.net/doc</a:t>
            </a:r>
          </a:p>
          <a:p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317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277" y="2219704"/>
            <a:ext cx="7035725" cy="185203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830277" y="1850372"/>
            <a:ext cx="180453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Install </a:t>
            </a:r>
            <a:r>
              <a:rPr lang="en-US" i="1" err="1">
                <a:solidFill>
                  <a:srgbClr val="007DB5"/>
                </a:solidFill>
              </a:rPr>
              <a:t>xmlstartlet</a:t>
            </a:r>
            <a:endParaRPr lang="en-US" i="1">
              <a:solidFill>
                <a:srgbClr val="007D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24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522" y="186872"/>
            <a:ext cx="8287651" cy="654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93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M node tree">
            <a:extLst>
              <a:ext uri="{FF2B5EF4-FFF2-40B4-BE49-F238E27FC236}">
                <a16:creationId xmlns:a16="http://schemas.microsoft.com/office/drawing/2014/main" id="{DD027756-84C2-439B-B80F-7F26B7542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4" y="2012633"/>
            <a:ext cx="5912283" cy="334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8D9CA7-35F4-44B8-ABE6-8A9CBC2F3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065" y="696684"/>
            <a:ext cx="4772688" cy="5722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A861C0-3573-4850-A014-659075081C98}"/>
              </a:ext>
            </a:extLst>
          </p:cNvPr>
          <p:cNvSpPr txBox="1"/>
          <p:nvPr/>
        </p:nvSpPr>
        <p:spPr>
          <a:xfrm>
            <a:off x="2497516" y="6593558"/>
            <a:ext cx="2876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https://www.w3schools.com/xml/xml_tree.asp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52EC9E-DC65-C4BD-9462-FDEAC1222E3D}"/>
              </a:ext>
            </a:extLst>
          </p:cNvPr>
          <p:cNvSpPr txBox="1"/>
          <p:nvPr/>
        </p:nvSpPr>
        <p:spPr>
          <a:xfrm>
            <a:off x="5578200" y="0"/>
            <a:ext cx="617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UTF-8 is capable of encoding all 1,112,064 characters using one to four one-byte (8-bit) code units.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18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243" y="229296"/>
            <a:ext cx="8298899" cy="647756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16541" y="229296"/>
            <a:ext cx="21897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Show </a:t>
            </a:r>
            <a:r>
              <a:rPr lang="en-US" i="1">
                <a:solidFill>
                  <a:srgbClr val="007DB5"/>
                </a:solidFill>
              </a:rPr>
              <a:t>SecurityEvt.xml</a:t>
            </a:r>
          </a:p>
        </p:txBody>
      </p:sp>
      <p:sp>
        <p:nvSpPr>
          <p:cNvPr id="4" name="Rectangle 3"/>
          <p:cNvSpPr/>
          <p:nvPr/>
        </p:nvSpPr>
        <p:spPr>
          <a:xfrm>
            <a:off x="6752493" y="1847557"/>
            <a:ext cx="4110892" cy="113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0000"/>
                </a:solidFill>
              </a:rPr>
              <a:t>XML Namespaces </a:t>
            </a:r>
            <a:r>
              <a:rPr lang="en-US" sz="1400"/>
              <a:t>provide a method to avoid element name conflicts.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defined by an </a:t>
            </a:r>
            <a:r>
              <a:rPr lang="en-US" sz="1400" b="1" err="1"/>
              <a:t>xmlns</a:t>
            </a:r>
            <a:r>
              <a:rPr lang="en-US" sz="1400"/>
              <a:t> attribute in the start tag of an element.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007DB5"/>
                </a:solidFill>
              </a:rPr>
              <a:t>xmlns:</a:t>
            </a:r>
            <a:r>
              <a:rPr lang="en-US" sz="1200" i="1" err="1">
                <a:solidFill>
                  <a:srgbClr val="007DB5"/>
                </a:solidFill>
              </a:rPr>
              <a:t>prefix</a:t>
            </a:r>
            <a:r>
              <a:rPr lang="en-US" sz="1200">
                <a:solidFill>
                  <a:srgbClr val="007DB5"/>
                </a:solidFill>
              </a:rPr>
              <a:t>="</a:t>
            </a:r>
            <a:r>
              <a:rPr lang="en-US" sz="1200" i="1">
                <a:solidFill>
                  <a:srgbClr val="007DB5"/>
                </a:solidFill>
              </a:rPr>
              <a:t>URI</a:t>
            </a:r>
            <a:r>
              <a:rPr lang="en-US" sz="1200">
                <a:solidFill>
                  <a:srgbClr val="007DB5"/>
                </a:solidFill>
              </a:rPr>
              <a:t>".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3868615" y="1524000"/>
            <a:ext cx="3329354" cy="12817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45477" y="2113225"/>
            <a:ext cx="22904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table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tr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td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Apples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/td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td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Bananas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/td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/tr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/table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445477" y="3759718"/>
            <a:ext cx="22904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table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name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African Coffee Table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/name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width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80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/width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length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120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/length</a:t>
            </a: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en-US" sz="1200" dirty="0"/>
            </a:br>
            <a:r>
              <a:rPr lang="en-US" sz="1200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A52A2A"/>
                </a:solidFill>
                <a:latin typeface="Consolas" panose="020B0609020204030204" pitchFamily="49" charset="0"/>
              </a:rPr>
              <a:t>/table</a:t>
            </a:r>
            <a:endParaRPr lang="en-US" sz="1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D2F3A9-A395-492B-B773-9442BE5CBE4F}"/>
              </a:ext>
            </a:extLst>
          </p:cNvPr>
          <p:cNvCxnSpPr/>
          <p:nvPr/>
        </p:nvCxnSpPr>
        <p:spPr>
          <a:xfrm flipH="1">
            <a:off x="1196340" y="1524000"/>
            <a:ext cx="2552700" cy="693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EFBBAE-6FAA-4427-AB50-78A99215E4F6}"/>
              </a:ext>
            </a:extLst>
          </p:cNvPr>
          <p:cNvCxnSpPr/>
          <p:nvPr/>
        </p:nvCxnSpPr>
        <p:spPr>
          <a:xfrm flipH="1">
            <a:off x="1242060" y="1524000"/>
            <a:ext cx="2560320" cy="232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06EAF0-EC4B-4A3A-91C8-D029878FA3D1}"/>
              </a:ext>
            </a:extLst>
          </p:cNvPr>
          <p:cNvSpPr txBox="1"/>
          <p:nvPr/>
        </p:nvSpPr>
        <p:spPr>
          <a:xfrm>
            <a:off x="1477496" y="2071170"/>
            <a:ext cx="1113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which </a:t>
            </a:r>
            <a:r>
              <a:rPr lang="en-US" sz="1400" dirty="0">
                <a:solidFill>
                  <a:srgbClr val="FF0000"/>
                </a:solidFill>
              </a:rPr>
              <a:t>table</a:t>
            </a:r>
            <a:r>
              <a:rPr lang="en-US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4149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val</a:t>
            </a:r>
            <a:r>
              <a:rPr lang="en-US"/>
              <a:t>idating XML documents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09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70" y="1673181"/>
            <a:ext cx="6019667" cy="121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64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 </a:t>
            </a:r>
            <a:r>
              <a:rPr lang="en-US">
                <a:solidFill>
                  <a:srgbClr val="FF0000"/>
                </a:solidFill>
              </a:rPr>
              <a:t>el</a:t>
            </a:r>
            <a:r>
              <a:rPr lang="en-US"/>
              <a:t>ement structure of XML document 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elements</a:t>
            </a:r>
          </a:p>
        </p:txBody>
      </p:sp>
    </p:spTree>
    <p:extLst>
      <p:ext uri="{BB962C8B-B14F-4D97-AF65-F5344CB8AC3E}">
        <p14:creationId xmlns:p14="http://schemas.microsoft.com/office/powerpoint/2010/main" val="1241153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909" y="267070"/>
            <a:ext cx="6651981" cy="63009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5051" y="1658102"/>
            <a:ext cx="3000839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 el: </a:t>
            </a:r>
            <a:r>
              <a:rPr lang="en-US"/>
              <a:t> Display element structure of XML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-u</a:t>
            </a:r>
            <a:r>
              <a:rPr lang="en-US"/>
              <a:t>:   print out sorted unique lines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478976" y="565358"/>
            <a:ext cx="2814933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Show the element structure of </a:t>
            </a:r>
            <a:r>
              <a:rPr lang="en-US" i="1">
                <a:solidFill>
                  <a:srgbClr val="007DB5"/>
                </a:solidFill>
              </a:rPr>
              <a:t>SecurityEvt.xml</a:t>
            </a:r>
          </a:p>
        </p:txBody>
      </p:sp>
    </p:spTree>
    <p:extLst>
      <p:ext uri="{BB962C8B-B14F-4D97-AF65-F5344CB8AC3E}">
        <p14:creationId xmlns:p14="http://schemas.microsoft.com/office/powerpoint/2010/main" val="4086551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14" y="1414819"/>
            <a:ext cx="9898300" cy="426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9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0" y="1329151"/>
            <a:ext cx="7602644" cy="44163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17395" y="3306513"/>
            <a:ext cx="200811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-a</a:t>
            </a:r>
            <a:r>
              <a:rPr lang="en-US"/>
              <a:t>: show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2790" y="959818"/>
            <a:ext cx="6950195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Show the element (attributes) structure of </a:t>
            </a:r>
            <a:r>
              <a:rPr lang="en-US" i="1">
                <a:solidFill>
                  <a:srgbClr val="007DB5"/>
                </a:solidFill>
              </a:rPr>
              <a:t>SecurityEvt.xml</a:t>
            </a:r>
          </a:p>
        </p:txBody>
      </p:sp>
    </p:spTree>
    <p:extLst>
      <p:ext uri="{BB962C8B-B14F-4D97-AF65-F5344CB8AC3E}">
        <p14:creationId xmlns:p14="http://schemas.microsoft.com/office/powerpoint/2010/main" val="3837032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62" y="1591398"/>
            <a:ext cx="10237259" cy="39895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31905" y="4158734"/>
            <a:ext cx="403270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-v </a:t>
            </a:r>
            <a:r>
              <a:rPr lang="en-US" sz="2000"/>
              <a:t>: 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/>
              <a:t> show attributes and their values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929962" y="1222066"/>
            <a:ext cx="58069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Show element attributes and their values</a:t>
            </a:r>
            <a:endParaRPr lang="en-US" i="1">
              <a:solidFill>
                <a:srgbClr val="007DB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F091E-62A3-4824-8C0E-F5F3309A5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820" y="217914"/>
            <a:ext cx="3814020" cy="88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97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fo</a:t>
            </a:r>
            <a:r>
              <a:rPr lang="en-US"/>
              <a:t>rmat XML document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68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99" y="1504809"/>
            <a:ext cx="9317795" cy="400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19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464" y="1066164"/>
            <a:ext cx="7996208" cy="484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62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sel</a:t>
            </a:r>
            <a:r>
              <a:rPr lang="en-US"/>
              <a:t>ect data or query XML document(s) (XPATH, </a:t>
            </a:r>
            <a:r>
              <a:rPr lang="en-US" err="1"/>
              <a:t>etc</a:t>
            </a:r>
            <a:r>
              <a:rPr lang="en-US"/>
              <a:t>)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71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1533"/>
          <a:stretch/>
        </p:blipFill>
        <p:spPr>
          <a:xfrm>
            <a:off x="1885611" y="641131"/>
            <a:ext cx="8808835" cy="538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43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14" y="364627"/>
            <a:ext cx="9533610" cy="6125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42670" y="643374"/>
            <a:ext cx="2701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What is XPATH expression?</a:t>
            </a:r>
          </a:p>
        </p:txBody>
      </p:sp>
    </p:spTree>
    <p:extLst>
      <p:ext uri="{BB962C8B-B14F-4D97-AF65-F5344CB8AC3E}">
        <p14:creationId xmlns:p14="http://schemas.microsoft.com/office/powerpoint/2010/main" val="2253269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880" y="1825625"/>
            <a:ext cx="6421120" cy="3888018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err="1">
                <a:solidFill>
                  <a:srgbClr val="007DB5"/>
                </a:solidFill>
              </a:rPr>
              <a:t>Xpath</a:t>
            </a:r>
            <a:r>
              <a:rPr lang="en-US">
                <a:solidFill>
                  <a:srgbClr val="007DB5"/>
                </a:solidFill>
              </a:rPr>
              <a:t> </a:t>
            </a:r>
            <a:r>
              <a:rPr lang="en-US"/>
              <a:t>expressions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4932680" cy="4219575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rgbClr val="007DB5"/>
                </a:solidFill>
              </a:rPr>
              <a:t>Xpath</a:t>
            </a:r>
            <a:r>
              <a:rPr lang="en-US" dirty="0"/>
              <a:t> uses path expressions to select nodes or node-sets in an XML document. </a:t>
            </a:r>
          </a:p>
          <a:p>
            <a:r>
              <a:rPr lang="en-US" i="1" dirty="0" err="1">
                <a:solidFill>
                  <a:srgbClr val="007DB5"/>
                </a:solidFill>
              </a:rPr>
              <a:t>Xpath</a:t>
            </a:r>
            <a:r>
              <a:rPr lang="en-US" dirty="0"/>
              <a:t> expressions look very much like the expressions you see when you work with a traditional computer file system.</a:t>
            </a:r>
          </a:p>
          <a:p>
            <a:r>
              <a:rPr lang="en-US" dirty="0">
                <a:solidFill>
                  <a:srgbClr val="FF0000"/>
                </a:solidFill>
              </a:rPr>
              <a:t>Must</a:t>
            </a:r>
            <a:r>
              <a:rPr lang="en-US" dirty="0"/>
              <a:t> provide XML namespace for queuing data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119077" y="3384062"/>
            <a:ext cx="1758461" cy="15552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160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560" y="1815465"/>
            <a:ext cx="7203440" cy="4361716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72280" cy="1325563"/>
          </a:xfrm>
        </p:spPr>
        <p:txBody>
          <a:bodyPr/>
          <a:lstStyle/>
          <a:p>
            <a:r>
              <a:rPr lang="en-US" dirty="0" err="1"/>
              <a:t>Xpath</a:t>
            </a:r>
            <a:r>
              <a:rPr lang="en-US" dirty="0"/>
              <a:t> expressions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7080" y="1815465"/>
            <a:ext cx="4221480" cy="42195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First Event node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7030A0"/>
                </a:solidFill>
              </a:rPr>
              <a:t>x</a:t>
            </a:r>
            <a:r>
              <a:rPr lang="en-US" dirty="0" err="1"/>
              <a:t>:Event</a:t>
            </a:r>
            <a:r>
              <a:rPr lang="en-US" dirty="0"/>
              <a:t>[1]</a:t>
            </a:r>
          </a:p>
          <a:p>
            <a:r>
              <a:rPr lang="en-US" dirty="0"/>
              <a:t>Last event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7030A0"/>
                </a:solidFill>
              </a:rPr>
              <a:t>x</a:t>
            </a:r>
            <a:r>
              <a:rPr lang="en-US" dirty="0" err="1"/>
              <a:t>:Event</a:t>
            </a:r>
            <a:r>
              <a:rPr lang="en-US" dirty="0"/>
              <a:t>[last()]</a:t>
            </a:r>
          </a:p>
          <a:p>
            <a:r>
              <a:rPr lang="en-US" dirty="0"/>
              <a:t>First two events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7030A0"/>
                </a:solidFill>
              </a:rPr>
              <a:t>x</a:t>
            </a:r>
            <a:r>
              <a:rPr lang="en-US" dirty="0" err="1"/>
              <a:t>:Event</a:t>
            </a:r>
            <a:r>
              <a:rPr lang="en-US" dirty="0"/>
              <a:t>[position()&lt;3]</a:t>
            </a:r>
          </a:p>
          <a:p>
            <a:r>
              <a:rPr lang="en-US" i="1" dirty="0" err="1">
                <a:solidFill>
                  <a:schemeClr val="accent6"/>
                </a:solidFill>
              </a:rPr>
              <a:t>EventID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with an attribute named </a:t>
            </a:r>
            <a:r>
              <a:rPr lang="en-US" i="1" dirty="0">
                <a:solidFill>
                  <a:schemeClr val="accent6"/>
                </a:solidFill>
              </a:rPr>
              <a:t>Qualifiers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7030A0"/>
                </a:solidFill>
              </a:rPr>
              <a:t>x</a:t>
            </a:r>
            <a:r>
              <a:rPr lang="en-US" dirty="0" err="1"/>
              <a:t>:EventID</a:t>
            </a:r>
            <a:r>
              <a:rPr lang="en-US" dirty="0"/>
              <a:t>[@Qualifiers]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8560" y="1230690"/>
            <a:ext cx="720344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“</a:t>
            </a:r>
            <a:r>
              <a:rPr lang="en-US" sz="1600" dirty="0">
                <a:solidFill>
                  <a:srgbClr val="FF0000"/>
                </a:solidFill>
              </a:rPr>
              <a:t>//</a:t>
            </a:r>
            <a:r>
              <a:rPr lang="en-US" sz="1600" dirty="0"/>
              <a:t>” operator, a convenient shorthand for selecting nodes at any level in a document.</a:t>
            </a:r>
          </a:p>
          <a:p>
            <a:r>
              <a:rPr lang="en-US" sz="1600" dirty="0">
                <a:solidFill>
                  <a:srgbClr val="7030A0"/>
                </a:solidFill>
              </a:rPr>
              <a:t>x</a:t>
            </a:r>
            <a:r>
              <a:rPr lang="en-US" sz="1600" dirty="0"/>
              <a:t>: namespace variable, e.g., </a:t>
            </a:r>
            <a:r>
              <a:rPr lang="en-US" sz="1400" i="1" dirty="0">
                <a:solidFill>
                  <a:schemeClr val="accent6">
                    <a:lumMod val="50000"/>
                  </a:schemeClr>
                </a:solidFill>
              </a:rPr>
              <a:t>x=http://schemas.microsoft.com/win/2004/08/events/event</a:t>
            </a:r>
            <a:endParaRPr lang="en-US" i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129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79" y="782320"/>
            <a:ext cx="10704584" cy="5618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95103" y="3035776"/>
            <a:ext cx="4236720" cy="32932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</a:t>
            </a:r>
            <a:r>
              <a:rPr lang="en-US" sz="1600" b="1">
                <a:solidFill>
                  <a:srgbClr val="FF0000"/>
                </a:solidFill>
              </a:rPr>
              <a:t>dot</a:t>
            </a:r>
            <a:r>
              <a:rPr lang="en-US" sz="1600">
                <a:solidFill>
                  <a:srgbClr val="FF0000"/>
                </a:solidFill>
              </a:rPr>
              <a:t> </a:t>
            </a:r>
            <a:r>
              <a:rPr lang="en-US" sz="1600"/>
              <a:t>(“</a:t>
            </a:r>
            <a:r>
              <a:rPr lang="en-US" sz="1600" b="1">
                <a:solidFill>
                  <a:srgbClr val="FF0000"/>
                </a:solidFill>
              </a:rPr>
              <a:t>.</a:t>
            </a:r>
            <a:r>
              <a:rPr lang="en-US" sz="1600"/>
              <a:t>”) : the “context item expression” because it refers to the context item.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This could be a node (such as an element, attribute, or text node), or an atomic value (such as a string, number, or </a:t>
            </a:r>
            <a:r>
              <a:rPr lang="en-US" sz="1600" err="1"/>
              <a:t>boolean</a:t>
            </a:r>
            <a:r>
              <a:rPr lang="en-US" sz="1600"/>
              <a:t>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When it’s a node, it’s also called the context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-c </a:t>
            </a:r>
            <a:r>
              <a:rPr lang="en-US" sz="1600"/>
              <a:t>or --copy-of </a:t>
            </a:r>
            <a:r>
              <a:rPr lang="en-US" sz="1600">
                <a:solidFill>
                  <a:srgbClr val="FF0000"/>
                </a:solidFill>
              </a:rPr>
              <a:t>&lt;</a:t>
            </a:r>
            <a:r>
              <a:rPr lang="en-US" sz="1600" err="1">
                <a:solidFill>
                  <a:srgbClr val="FF0000"/>
                </a:solidFill>
              </a:rPr>
              <a:t>xpath</a:t>
            </a:r>
            <a:r>
              <a:rPr lang="en-US" sz="1600">
                <a:solidFill>
                  <a:srgbClr val="FF0000"/>
                </a:solidFill>
              </a:rPr>
              <a:t>&gt;</a:t>
            </a:r>
            <a:r>
              <a:rPr lang="en-US" sz="1600"/>
              <a:t>:  </a:t>
            </a:r>
            <a:r>
              <a:rPr lang="en-US" sz="1600">
                <a:solidFill>
                  <a:srgbClr val="FF0000"/>
                </a:solidFill>
              </a:rPr>
              <a:t> </a:t>
            </a:r>
            <a:r>
              <a:rPr lang="en-US" sz="1600"/>
              <a:t>print copy of XPATH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7030A0"/>
                </a:solidFill>
              </a:rPr>
              <a:t>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-m</a:t>
            </a:r>
            <a:r>
              <a:rPr lang="en-US" sz="1600"/>
              <a:t>: match XPATH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FF0000"/>
                </a:solidFill>
              </a:rPr>
              <a:t>-t</a:t>
            </a:r>
            <a:r>
              <a:rPr lang="en-US" sz="1600"/>
              <a:t>|--template &lt;</a:t>
            </a:r>
            <a:r>
              <a:rPr lang="en-US" sz="1600">
                <a:solidFill>
                  <a:srgbClr val="7030A0"/>
                </a:solidFill>
              </a:rPr>
              <a:t>options</a:t>
            </a:r>
            <a:r>
              <a:rPr lang="en-US" sz="1600"/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479" y="412988"/>
            <a:ext cx="929850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Select the first event by using template to match the </a:t>
            </a:r>
            <a:r>
              <a:rPr lang="en-US" dirty="0" err="1"/>
              <a:t>xpath</a:t>
            </a:r>
            <a:r>
              <a:rPr lang="en-US" dirty="0"/>
              <a:t> and print the copy of the context node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352800" y="1635760"/>
            <a:ext cx="3820160" cy="350520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671128" y="1635760"/>
            <a:ext cx="3742303" cy="154432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382104" y="1645920"/>
            <a:ext cx="5712999" cy="399288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968568" y="1645920"/>
            <a:ext cx="6126535" cy="443992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484697" y="1539716"/>
            <a:ext cx="203312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-N: </a:t>
            </a:r>
            <a:r>
              <a:rPr lang="en-US" sz="1600"/>
              <a:t>namespace </a:t>
            </a:r>
            <a:endParaRPr lang="en-US" sz="1600" b="1">
              <a:solidFill>
                <a:srgbClr val="FF0000"/>
              </a:solidFill>
            </a:endParaRPr>
          </a:p>
          <a:p>
            <a:r>
              <a:rPr lang="en-US" sz="1600" b="1">
                <a:solidFill>
                  <a:srgbClr val="FF0000"/>
                </a:solidFill>
              </a:rPr>
              <a:t>x</a:t>
            </a:r>
            <a:r>
              <a:rPr lang="en-US" sz="1600"/>
              <a:t>: namespace variable</a:t>
            </a:r>
          </a:p>
        </p:txBody>
      </p:sp>
      <p:cxnSp>
        <p:nvCxnSpPr>
          <p:cNvPr id="20" name="Straight Arrow Connector 19"/>
          <p:cNvCxnSpPr>
            <a:endCxn id="19" idx="1"/>
          </p:cNvCxnSpPr>
          <p:nvPr/>
        </p:nvCxnSpPr>
        <p:spPr>
          <a:xfrm>
            <a:off x="4878186" y="1391235"/>
            <a:ext cx="2606511" cy="44086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133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20" y="1730750"/>
            <a:ext cx="11128197" cy="34508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220" y="1361418"/>
            <a:ext cx="543238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Select </a:t>
            </a:r>
            <a:r>
              <a:rPr lang="en-US" err="1"/>
              <a:t>TimeCreated</a:t>
            </a:r>
            <a:r>
              <a:rPr lang="en-US"/>
              <a:t> of events and print the context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8ED75A-BB81-4FCE-B5C7-CB1A9C89830C}"/>
              </a:ext>
            </a:extLst>
          </p:cNvPr>
          <p:cNvSpPr/>
          <p:nvPr/>
        </p:nvSpPr>
        <p:spPr>
          <a:xfrm>
            <a:off x="6395127" y="2557014"/>
            <a:ext cx="18469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-n</a:t>
            </a:r>
            <a:r>
              <a:rPr lang="en-US"/>
              <a:t>:  print new line</a:t>
            </a:r>
          </a:p>
        </p:txBody>
      </p:sp>
    </p:spTree>
    <p:extLst>
      <p:ext uri="{BB962C8B-B14F-4D97-AF65-F5344CB8AC3E}">
        <p14:creationId xmlns:p14="http://schemas.microsoft.com/office/powerpoint/2010/main" val="3531219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71" y="2123658"/>
            <a:ext cx="11164554" cy="39523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72727" y="2960214"/>
            <a:ext cx="18469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-n</a:t>
            </a:r>
            <a:r>
              <a:rPr lang="en-US"/>
              <a:t>:  print new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471" y="1754326"/>
            <a:ext cx="536954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Select a property of </a:t>
            </a:r>
            <a:r>
              <a:rPr lang="en-US" err="1"/>
              <a:t>EventID</a:t>
            </a:r>
            <a:r>
              <a:rPr lang="en-US"/>
              <a:t> and print the context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7363" y="359172"/>
            <a:ext cx="454066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/>
              <a:t>4608 (Windows is starting up)</a:t>
            </a:r>
          </a:p>
          <a:p>
            <a:r>
              <a:rPr lang="en-US"/>
              <a:t>1100 (service shutdown)</a:t>
            </a:r>
          </a:p>
          <a:p>
            <a:r>
              <a:rPr lang="en-US"/>
              <a:t>4624 (successful logon)</a:t>
            </a:r>
          </a:p>
          <a:p>
            <a:r>
              <a:rPr lang="en-US"/>
              <a:t>4634 (logoff)</a:t>
            </a:r>
          </a:p>
          <a:p>
            <a:r>
              <a:rPr lang="en-US"/>
              <a:t>4625 (logon failure)</a:t>
            </a:r>
          </a:p>
          <a:p>
            <a:r>
              <a:rPr lang="en-US"/>
              <a:t>4647 (a user initiated the logoff process)...</a:t>
            </a:r>
          </a:p>
        </p:txBody>
      </p:sp>
    </p:spTree>
    <p:extLst>
      <p:ext uri="{BB962C8B-B14F-4D97-AF65-F5344CB8AC3E}">
        <p14:creationId xmlns:p14="http://schemas.microsoft.com/office/powerpoint/2010/main" val="2884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Substitute </a:t>
            </a:r>
            <a:r>
              <a:rPr lang="en-US" i="1" dirty="0" err="1">
                <a:solidFill>
                  <a:srgbClr val="7030A0"/>
                </a:solidFill>
              </a:rPr>
              <a:t>xmlstarlet</a:t>
            </a:r>
            <a:r>
              <a:rPr lang="en-US" i="1" dirty="0">
                <a:solidFill>
                  <a:srgbClr val="7030A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sel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results using </a:t>
            </a:r>
            <a:r>
              <a:rPr lang="en-US" dirty="0">
                <a:solidFill>
                  <a:srgbClr val="FF0000"/>
                </a:solidFill>
              </a:rPr>
              <a:t>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871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s</a:t>
            </a:r>
            <a:r>
              <a:rPr lang="en-US"/>
              <a:t>tream </a:t>
            </a:r>
            <a:r>
              <a:rPr lang="en-US">
                <a:solidFill>
                  <a:srgbClr val="FF0000"/>
                </a:solidFill>
              </a:rPr>
              <a:t>ed</a:t>
            </a:r>
            <a:r>
              <a:rPr lang="en-US"/>
              <a:t>itor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18615"/>
          </a:xfrm>
        </p:spPr>
        <p:txBody>
          <a:bodyPr>
            <a:normAutofit/>
          </a:bodyPr>
          <a:lstStyle/>
          <a:p>
            <a:r>
              <a:rPr lang="en-US" dirty="0"/>
              <a:t>Used to perform basic text transformations on an input stream (a file or input from a pipeline).</a:t>
            </a:r>
          </a:p>
          <a:p>
            <a:r>
              <a:rPr lang="en-US" dirty="0"/>
              <a:t>Can apply regular expression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28710"/>
            <a:ext cx="8477308" cy="19063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3759378"/>
            <a:ext cx="479163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Substitute </a:t>
            </a:r>
            <a:r>
              <a:rPr lang="en-US" i="1">
                <a:solidFill>
                  <a:srgbClr val="7030A0"/>
                </a:solidFill>
              </a:rPr>
              <a:t>morning</a:t>
            </a:r>
            <a:r>
              <a:rPr lang="en-US"/>
              <a:t> in text stream with </a:t>
            </a:r>
            <a:r>
              <a:rPr lang="en-US" i="1">
                <a:solidFill>
                  <a:srgbClr val="7030A0"/>
                </a:solidFill>
              </a:rPr>
              <a:t>afternoon</a:t>
            </a:r>
          </a:p>
        </p:txBody>
      </p:sp>
    </p:spTree>
    <p:extLst>
      <p:ext uri="{BB962C8B-B14F-4D97-AF65-F5344CB8AC3E}">
        <p14:creationId xmlns:p14="http://schemas.microsoft.com/office/powerpoint/2010/main" val="3060681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586" y="2014133"/>
            <a:ext cx="9254813" cy="273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98586" y="1644801"/>
            <a:ext cx="479163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Substitute </a:t>
            </a:r>
            <a:r>
              <a:rPr lang="en-US" i="1">
                <a:solidFill>
                  <a:srgbClr val="7030A0"/>
                </a:solidFill>
              </a:rPr>
              <a:t>morning</a:t>
            </a:r>
            <a:r>
              <a:rPr lang="en-US"/>
              <a:t> in text stream with </a:t>
            </a:r>
            <a:r>
              <a:rPr lang="en-US" i="1">
                <a:solidFill>
                  <a:srgbClr val="7030A0"/>
                </a:solidFill>
              </a:rPr>
              <a:t>afternoon</a:t>
            </a:r>
          </a:p>
        </p:txBody>
      </p:sp>
    </p:spTree>
    <p:extLst>
      <p:ext uri="{BB962C8B-B14F-4D97-AF65-F5344CB8AC3E}">
        <p14:creationId xmlns:p14="http://schemas.microsoft.com/office/powerpoint/2010/main" val="3407819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85" y="2271964"/>
            <a:ext cx="9930548" cy="21882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96934" y="3965694"/>
            <a:ext cx="240213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/>
              <a:t>/</a:t>
            </a:r>
            <a:r>
              <a:rPr lang="en-US" b="1">
                <a:solidFill>
                  <a:srgbClr val="FF0000"/>
                </a:solidFill>
              </a:rPr>
              <a:t>g </a:t>
            </a:r>
            <a:r>
              <a:rPr lang="en-US"/>
              <a:t>- Global replacement</a:t>
            </a:r>
          </a:p>
        </p:txBody>
      </p:sp>
    </p:spTree>
    <p:extLst>
      <p:ext uri="{BB962C8B-B14F-4D97-AF65-F5344CB8AC3E}">
        <p14:creationId xmlns:p14="http://schemas.microsoft.com/office/powerpoint/2010/main" val="57646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51338" y="0"/>
            <a:ext cx="454066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4608 (Windows is starting up)</a:t>
            </a:r>
          </a:p>
          <a:p>
            <a:r>
              <a:rPr lang="en-US" dirty="0"/>
              <a:t>1100 (service shutdown)</a:t>
            </a:r>
          </a:p>
          <a:p>
            <a:r>
              <a:rPr lang="en-US" dirty="0"/>
              <a:t>4624 (successful logon)</a:t>
            </a:r>
          </a:p>
          <a:p>
            <a:r>
              <a:rPr lang="en-US" dirty="0"/>
              <a:t>4634 (logoff)</a:t>
            </a:r>
          </a:p>
          <a:p>
            <a:r>
              <a:rPr lang="en-US" dirty="0"/>
              <a:t>4625 (logon failure)</a:t>
            </a:r>
          </a:p>
          <a:p>
            <a:r>
              <a:rPr lang="en-US" dirty="0"/>
              <a:t>4647 (a user initiated the logoff process)...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88" y="1754326"/>
            <a:ext cx="11200038" cy="41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7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ed</a:t>
            </a:r>
            <a:r>
              <a:rPr lang="en-US"/>
              <a:t>it XML document(s)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928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809" y="559821"/>
            <a:ext cx="8550381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61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31" y="1222819"/>
            <a:ext cx="8977138" cy="44123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357821-C5F7-4C3D-BD9C-52457382E87F}"/>
              </a:ext>
            </a:extLst>
          </p:cNvPr>
          <p:cNvSpPr txBox="1"/>
          <p:nvPr/>
        </p:nvSpPr>
        <p:spPr>
          <a:xfrm>
            <a:off x="1607431" y="853487"/>
            <a:ext cx="54142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the first event and we will make change the event</a:t>
            </a:r>
          </a:p>
        </p:txBody>
      </p:sp>
    </p:spTree>
    <p:extLst>
      <p:ext uri="{BB962C8B-B14F-4D97-AF65-F5344CB8AC3E}">
        <p14:creationId xmlns:p14="http://schemas.microsoft.com/office/powerpoint/2010/main" val="2453786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534" y="1647570"/>
            <a:ext cx="8512278" cy="45419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3534" y="1278238"/>
            <a:ext cx="401135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“d</a:t>
            </a:r>
            <a:r>
              <a:rPr lang="en-US"/>
              <a:t>elete/hide” </a:t>
            </a:r>
            <a:r>
              <a:rPr lang="en-US" dirty="0"/>
              <a:t>the node </a:t>
            </a:r>
            <a:r>
              <a:rPr lang="en-US" i="1" dirty="0">
                <a:solidFill>
                  <a:srgbClr val="7030A0"/>
                </a:solidFill>
              </a:rPr>
              <a:t>&lt;Level&gt;&lt;/Level&gt;</a:t>
            </a:r>
          </a:p>
        </p:txBody>
      </p:sp>
    </p:spTree>
    <p:extLst>
      <p:ext uri="{BB962C8B-B14F-4D97-AF65-F5344CB8AC3E}">
        <p14:creationId xmlns:p14="http://schemas.microsoft.com/office/powerpoint/2010/main" val="3387639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20" y="1165663"/>
            <a:ext cx="10178913" cy="48564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0320" y="796331"/>
            <a:ext cx="9057244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b="1" i="1">
                <a:solidFill>
                  <a:srgbClr val="FF0000"/>
                </a:solidFill>
              </a:rPr>
              <a:t>O</a:t>
            </a:r>
            <a:r>
              <a:rPr lang="en-US" i="1">
                <a:solidFill>
                  <a:srgbClr val="7030A0"/>
                </a:solidFill>
              </a:rPr>
              <a:t>mit XML declaration (&lt;?xml ...?&gt;) </a:t>
            </a:r>
            <a:r>
              <a:rPr lang="en-US"/>
              <a:t>and</a:t>
            </a:r>
            <a:r>
              <a:rPr lang="en-US" i="1">
                <a:solidFill>
                  <a:srgbClr val="7030A0"/>
                </a:solidFill>
              </a:rPr>
              <a:t> “</a:t>
            </a:r>
            <a:r>
              <a:rPr lang="en-US" b="1" i="1">
                <a:solidFill>
                  <a:srgbClr val="FF0000"/>
                </a:solidFill>
              </a:rPr>
              <a:t>d</a:t>
            </a:r>
            <a:r>
              <a:rPr lang="en-US"/>
              <a:t>elete”</a:t>
            </a:r>
            <a:r>
              <a:rPr lang="en-US" i="1">
                <a:solidFill>
                  <a:srgbClr val="7030A0"/>
                </a:solidFill>
              </a:rPr>
              <a:t> </a:t>
            </a:r>
            <a:r>
              <a:rPr lang="en-US"/>
              <a:t>the node </a:t>
            </a:r>
            <a:r>
              <a:rPr lang="en-US" i="1">
                <a:solidFill>
                  <a:srgbClr val="7030A0"/>
                </a:solidFill>
              </a:rPr>
              <a:t>&lt;Level&gt;&lt;/Level&gt;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017" y="2855190"/>
            <a:ext cx="357129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-d</a:t>
            </a:r>
            <a:r>
              <a:rPr lang="en-US"/>
              <a:t>: is not </a:t>
            </a:r>
            <a:r>
              <a:rPr lang="en-US">
                <a:solidFill>
                  <a:srgbClr val="FF0000"/>
                </a:solidFill>
              </a:rPr>
              <a:t>actually</a:t>
            </a:r>
            <a:r>
              <a:rPr lang="en-US"/>
              <a:t> deleting the note, </a:t>
            </a:r>
          </a:p>
          <a:p>
            <a:r>
              <a:rPr lang="en-US"/>
              <a:t>only show deleted stream</a:t>
            </a:r>
          </a:p>
          <a:p>
            <a:endParaRPr lang="en-US"/>
          </a:p>
          <a:p>
            <a:r>
              <a:rPr lang="en-US" b="1">
                <a:solidFill>
                  <a:srgbClr val="7030A0"/>
                </a:solidFill>
              </a:rPr>
              <a:t>How to actually delete a node?</a:t>
            </a:r>
          </a:p>
        </p:txBody>
      </p:sp>
    </p:spTree>
    <p:extLst>
      <p:ext uri="{BB962C8B-B14F-4D97-AF65-F5344CB8AC3E}">
        <p14:creationId xmlns:p14="http://schemas.microsoft.com/office/powerpoint/2010/main" val="23523468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Deleting namespace declarations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730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89" y="1199957"/>
            <a:ext cx="9007621" cy="44580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A099BB-4022-4256-A17F-713905E134BF}"/>
              </a:ext>
            </a:extLst>
          </p:cNvPr>
          <p:cNvSpPr txBox="1"/>
          <p:nvPr/>
        </p:nvSpPr>
        <p:spPr>
          <a:xfrm>
            <a:off x="1592189" y="830625"/>
            <a:ext cx="476418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the first </a:t>
            </a:r>
            <a:r>
              <a:rPr lang="en-US"/>
              <a:t>event and remove </a:t>
            </a:r>
            <a:r>
              <a:rPr lang="en-US" dirty="0"/>
              <a:t>error messages</a:t>
            </a:r>
          </a:p>
        </p:txBody>
      </p:sp>
    </p:spTree>
    <p:extLst>
      <p:ext uri="{BB962C8B-B14F-4D97-AF65-F5344CB8AC3E}">
        <p14:creationId xmlns:p14="http://schemas.microsoft.com/office/powerpoint/2010/main" val="26823519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56" y="1124787"/>
            <a:ext cx="9495343" cy="46638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456" y="755455"/>
            <a:ext cx="455637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Substitute </a:t>
            </a:r>
            <a:r>
              <a:rPr lang="en-US" i="1" err="1">
                <a:solidFill>
                  <a:srgbClr val="7030A0"/>
                </a:solidFill>
              </a:rPr>
              <a:t>xmlns</a:t>
            </a:r>
            <a:r>
              <a:rPr lang="en-US">
                <a:solidFill>
                  <a:srgbClr val="7030A0"/>
                </a:solidFill>
              </a:rPr>
              <a:t> </a:t>
            </a:r>
            <a:r>
              <a:rPr lang="en-US"/>
              <a:t>with nothing (remove </a:t>
            </a:r>
            <a:r>
              <a:rPr lang="en-US" i="1" err="1">
                <a:solidFill>
                  <a:srgbClr val="7030A0"/>
                </a:solidFill>
              </a:rPr>
              <a:t>xmlns</a:t>
            </a:r>
            <a:r>
              <a:rPr lang="en-US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0400" y="2733964"/>
            <a:ext cx="2496324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-e</a:t>
            </a:r>
            <a:r>
              <a:rPr lang="en-US"/>
              <a:t>: regular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s/</a:t>
            </a:r>
            <a:r>
              <a:rPr lang="en-US">
                <a:solidFill>
                  <a:srgbClr val="7030A0"/>
                </a:solidFill>
              </a:rPr>
              <a:t>e1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>
                <a:solidFill>
                  <a:srgbClr val="7030A0"/>
                </a:solidFill>
              </a:rPr>
              <a:t>e2</a:t>
            </a:r>
            <a:r>
              <a:rPr lang="en-US">
                <a:solidFill>
                  <a:srgbClr val="FF0000"/>
                </a:solidFill>
              </a:rPr>
              <a:t>/g: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s: </a:t>
            </a:r>
            <a:r>
              <a:rPr lang="en-US"/>
              <a:t>substitute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030A0"/>
                </a:solidFill>
              </a:rPr>
              <a:t>e1: regex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030A0"/>
                </a:solidFill>
              </a:rPr>
              <a:t>e2: regex</a:t>
            </a:r>
            <a:endParaRPr lang="en-US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g: </a:t>
            </a:r>
            <a:r>
              <a:rPr lang="en-US"/>
              <a:t>globe</a:t>
            </a:r>
          </a:p>
        </p:txBody>
      </p:sp>
    </p:spTree>
    <p:extLst>
      <p:ext uri="{BB962C8B-B14F-4D97-AF65-F5344CB8AC3E}">
        <p14:creationId xmlns:p14="http://schemas.microsoft.com/office/powerpoint/2010/main" val="33927388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897" y="845596"/>
            <a:ext cx="9518205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710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Transforming an XML Document into a CSV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18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49" y="1310929"/>
            <a:ext cx="9502964" cy="45800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6949" y="941597"/>
            <a:ext cx="478631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We want to save </a:t>
            </a:r>
            <a:r>
              <a:rPr lang="en-US" i="1" err="1">
                <a:solidFill>
                  <a:srgbClr val="007DB5"/>
                </a:solidFill>
              </a:rPr>
              <a:t>EventID</a:t>
            </a:r>
            <a:r>
              <a:rPr lang="en-US">
                <a:solidFill>
                  <a:srgbClr val="007DB5"/>
                </a:solidFill>
              </a:rPr>
              <a:t> </a:t>
            </a:r>
            <a:r>
              <a:rPr lang="en-US"/>
              <a:t>and </a:t>
            </a:r>
            <a:r>
              <a:rPr lang="en-US" i="1" err="1">
                <a:solidFill>
                  <a:srgbClr val="007DB5"/>
                </a:solidFill>
              </a:rPr>
              <a:t>ItemCreated</a:t>
            </a:r>
            <a:r>
              <a:rPr lang="en-US"/>
              <a:t> to .</a:t>
            </a:r>
            <a:r>
              <a:rPr lang="en-US" i="1">
                <a:solidFill>
                  <a:srgbClr val="007DB5"/>
                </a:solidFill>
              </a:rPr>
              <a:t>csv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29067-4F3D-497C-93BB-9EC92CA7DB10}"/>
              </a:ext>
            </a:extLst>
          </p:cNvPr>
          <p:cNvSpPr txBox="1"/>
          <p:nvPr/>
        </p:nvSpPr>
        <p:spPr>
          <a:xfrm>
            <a:off x="7711200" y="4399200"/>
            <a:ext cx="5630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UTC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8C1E6A-5FC7-4706-9A1E-D789143B614F}"/>
              </a:ext>
            </a:extLst>
          </p:cNvPr>
          <p:cNvCxnSpPr/>
          <p:nvPr/>
        </p:nvCxnSpPr>
        <p:spPr>
          <a:xfrm flipH="1" flipV="1">
            <a:off x="6559200" y="3880800"/>
            <a:ext cx="1116000" cy="69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779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2875" y="518027"/>
            <a:ext cx="104444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&lt;Event&gt;&lt;System&gt;&lt;Provider Name="Microsoft-Windows-Security-Auditing" </a:t>
            </a:r>
            <a:r>
              <a:rPr lang="en-US" dirty="0" err="1"/>
              <a:t>Guid</a:t>
            </a:r>
            <a:r>
              <a:rPr lang="en-US" dirty="0"/>
              <a:t>="{54849625-5478-4994-a5ba-3e3b0328c30d}"&gt;&lt;/Provider&gt;</a:t>
            </a:r>
          </a:p>
          <a:p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EventID</a:t>
            </a:r>
            <a:r>
              <a:rPr lang="en-US" dirty="0">
                <a:solidFill>
                  <a:srgbClr val="FF0000"/>
                </a:solidFill>
              </a:rPr>
              <a:t> Qualifiers=""&gt;</a:t>
            </a:r>
            <a:r>
              <a:rPr lang="en-US" dirty="0">
                <a:solidFill>
                  <a:srgbClr val="7030A0"/>
                </a:solidFill>
              </a:rPr>
              <a:t>4608</a:t>
            </a:r>
            <a:r>
              <a:rPr lang="en-US" dirty="0">
                <a:solidFill>
                  <a:srgbClr val="FF0000"/>
                </a:solidFill>
              </a:rPr>
              <a:t>&lt;/</a:t>
            </a:r>
            <a:r>
              <a:rPr lang="en-US" dirty="0" err="1">
                <a:solidFill>
                  <a:srgbClr val="FF0000"/>
                </a:solidFill>
              </a:rPr>
              <a:t>EventID</a:t>
            </a:r>
            <a:r>
              <a:rPr lang="en-US" dirty="0"/>
              <a:t>&gt;</a:t>
            </a:r>
          </a:p>
          <a:p>
            <a:r>
              <a:rPr lang="en-US" dirty="0"/>
              <a:t>&lt;Version&gt;0&lt;/Version&gt;</a:t>
            </a:r>
          </a:p>
          <a:p>
            <a:r>
              <a:rPr lang="en-US" dirty="0"/>
              <a:t>&lt;Level&gt;0&lt;/Level&gt;</a:t>
            </a:r>
          </a:p>
          <a:p>
            <a:r>
              <a:rPr lang="en-US" dirty="0"/>
              <a:t>&lt;Task&gt;12288&lt;/Task&gt;</a:t>
            </a:r>
          </a:p>
          <a:p>
            <a:r>
              <a:rPr lang="en-US" dirty="0"/>
              <a:t>&lt;Opcode&gt;0&lt;/Opcode&gt;</a:t>
            </a:r>
          </a:p>
          <a:p>
            <a:r>
              <a:rPr lang="en-US" dirty="0"/>
              <a:t>&lt;Keywords&gt;0x8020000000000000&lt;/Keywords&gt;</a:t>
            </a:r>
          </a:p>
          <a:p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TimeCreated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SystemTime</a:t>
            </a:r>
            <a:r>
              <a:rPr lang="en-US" dirty="0">
                <a:solidFill>
                  <a:srgbClr val="FF0000"/>
                </a:solidFill>
              </a:rPr>
              <a:t>="2015-03-25 10:15:35.248869"&gt;&lt;/</a:t>
            </a:r>
            <a:r>
              <a:rPr lang="en-US" dirty="0" err="1">
                <a:solidFill>
                  <a:srgbClr val="FF0000"/>
                </a:solidFill>
              </a:rPr>
              <a:t>TimeCreated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  <a:p>
            <a:r>
              <a:rPr lang="en-US" dirty="0"/>
              <a:t>&lt;</a:t>
            </a:r>
            <a:r>
              <a:rPr lang="en-US" dirty="0" err="1"/>
              <a:t>EventRecordID</a:t>
            </a:r>
            <a:r>
              <a:rPr lang="en-US" dirty="0"/>
              <a:t>&gt;1&lt;/</a:t>
            </a:r>
            <a:r>
              <a:rPr lang="en-US" dirty="0" err="1"/>
              <a:t>EventRecordID</a:t>
            </a:r>
            <a:r>
              <a:rPr lang="en-US" dirty="0"/>
              <a:t>&gt;</a:t>
            </a:r>
          </a:p>
          <a:p>
            <a:r>
              <a:rPr lang="en-US" dirty="0"/>
              <a:t>&lt;Correlation </a:t>
            </a:r>
            <a:r>
              <a:rPr lang="en-US" dirty="0" err="1"/>
              <a:t>ActivityID</a:t>
            </a:r>
            <a:r>
              <a:rPr lang="en-US" dirty="0"/>
              <a:t>="" </a:t>
            </a:r>
            <a:r>
              <a:rPr lang="en-US" dirty="0" err="1"/>
              <a:t>RelatedActivityID</a:t>
            </a:r>
            <a:r>
              <a:rPr lang="en-US" dirty="0"/>
              <a:t>=""&gt;&lt;/Correlation&gt;</a:t>
            </a:r>
          </a:p>
          <a:p>
            <a:r>
              <a:rPr lang="en-US" dirty="0"/>
              <a:t>&lt;Execution </a:t>
            </a:r>
            <a:r>
              <a:rPr lang="en-US" dirty="0" err="1"/>
              <a:t>ProcessID</a:t>
            </a:r>
            <a:r>
              <a:rPr lang="en-US" dirty="0"/>
              <a:t>="464" </a:t>
            </a:r>
            <a:r>
              <a:rPr lang="en-US" dirty="0" err="1"/>
              <a:t>ThreadID</a:t>
            </a:r>
            <a:r>
              <a:rPr lang="en-US" dirty="0"/>
              <a:t>="468"&gt;&lt;/Execution&gt;</a:t>
            </a:r>
          </a:p>
          <a:p>
            <a:r>
              <a:rPr lang="en-US" dirty="0"/>
              <a:t>&lt;Channel&gt;Security&lt;/Channel&gt;</a:t>
            </a:r>
          </a:p>
          <a:p>
            <a:r>
              <a:rPr lang="en-US" dirty="0"/>
              <a:t>&lt;Computer&gt;37L4247F27-25&lt;/Computer&gt;</a:t>
            </a:r>
          </a:p>
          <a:p>
            <a:r>
              <a:rPr lang="en-US" dirty="0"/>
              <a:t>&lt;Security </a:t>
            </a:r>
            <a:r>
              <a:rPr lang="en-US" dirty="0" err="1"/>
              <a:t>UserID</a:t>
            </a:r>
            <a:r>
              <a:rPr lang="en-US" dirty="0"/>
              <a:t>=""&gt;&lt;/Security&gt;</a:t>
            </a:r>
          </a:p>
          <a:p>
            <a:r>
              <a:rPr lang="en-US" dirty="0"/>
              <a:t>&lt;/System&gt;</a:t>
            </a:r>
          </a:p>
          <a:p>
            <a:r>
              <a:rPr lang="en-US" dirty="0"/>
              <a:t>&lt;</a:t>
            </a:r>
            <a:r>
              <a:rPr lang="en-US" dirty="0" err="1"/>
              <a:t>EventData</a:t>
            </a:r>
            <a:r>
              <a:rPr lang="en-US" dirty="0"/>
              <a:t>&gt;&lt;/</a:t>
            </a:r>
            <a:r>
              <a:rPr lang="en-US" dirty="0" err="1"/>
              <a:t>EventData</a:t>
            </a:r>
            <a:r>
              <a:rPr lang="en-US" dirty="0"/>
              <a:t>&gt;</a:t>
            </a:r>
          </a:p>
          <a:p>
            <a:r>
              <a:rPr lang="en-US" dirty="0"/>
              <a:t>&lt;/Event&gt;</a:t>
            </a:r>
          </a:p>
        </p:txBody>
      </p:sp>
    </p:spTree>
    <p:extLst>
      <p:ext uri="{BB962C8B-B14F-4D97-AF65-F5344CB8AC3E}">
        <p14:creationId xmlns:p14="http://schemas.microsoft.com/office/powerpoint/2010/main" val="40811294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619" y="2369417"/>
            <a:ext cx="9325522" cy="147291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99755" y="876458"/>
            <a:ext cx="2307427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-T</a:t>
            </a:r>
            <a:r>
              <a:rPr lang="en-US"/>
              <a:t>: output is text</a:t>
            </a:r>
          </a:p>
          <a:p>
            <a:r>
              <a:rPr lang="en-US">
                <a:solidFill>
                  <a:srgbClr val="FF0000"/>
                </a:solidFill>
              </a:rPr>
              <a:t>-t</a:t>
            </a:r>
            <a:r>
              <a:rPr lang="en-US"/>
              <a:t>: template</a:t>
            </a:r>
          </a:p>
          <a:p>
            <a:r>
              <a:rPr lang="en-US">
                <a:solidFill>
                  <a:srgbClr val="FF0000"/>
                </a:solidFill>
              </a:rPr>
              <a:t>-m</a:t>
            </a:r>
            <a:r>
              <a:rPr lang="en-US"/>
              <a:t>: template</a:t>
            </a:r>
          </a:p>
          <a:p>
            <a:r>
              <a:rPr lang="en-US">
                <a:solidFill>
                  <a:srgbClr val="FF0000"/>
                </a:solidFill>
              </a:rPr>
              <a:t>-v</a:t>
            </a:r>
            <a:r>
              <a:rPr lang="en-US"/>
              <a:t>: print value of </a:t>
            </a:r>
            <a:r>
              <a:rPr lang="en-US" err="1"/>
              <a:t>xpath</a:t>
            </a:r>
            <a:endParaRPr lang="en-US"/>
          </a:p>
          <a:p>
            <a:r>
              <a:rPr lang="en-US">
                <a:solidFill>
                  <a:srgbClr val="FF0000"/>
                </a:solidFill>
              </a:rPr>
              <a:t>-n</a:t>
            </a:r>
            <a:r>
              <a:rPr lang="en-US"/>
              <a:t>: new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4619" y="1992270"/>
            <a:ext cx="39360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/>
              <a:t>Display </a:t>
            </a:r>
            <a:r>
              <a:rPr lang="en-US" i="1" err="1">
                <a:solidFill>
                  <a:srgbClr val="007DB5"/>
                </a:solidFill>
              </a:rPr>
              <a:t>EventID</a:t>
            </a:r>
            <a:r>
              <a:rPr lang="en-US">
                <a:solidFill>
                  <a:srgbClr val="007DB5"/>
                </a:solidFill>
              </a:rPr>
              <a:t> </a:t>
            </a:r>
            <a:r>
              <a:rPr lang="en-US"/>
              <a:t>and </a:t>
            </a:r>
            <a:r>
              <a:rPr lang="en-US" i="1" err="1">
                <a:solidFill>
                  <a:srgbClr val="007DB5"/>
                </a:solidFill>
              </a:rPr>
              <a:t>ItemCreated</a:t>
            </a:r>
            <a:r>
              <a:rPr lang="en-US"/>
              <a:t>  in text</a:t>
            </a:r>
            <a:endParaRPr lang="en-US" i="1">
              <a:solidFill>
                <a:srgbClr val="007D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7055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Yau Ka Cheung</a:t>
            </a:r>
          </a:p>
          <a:p>
            <a:r>
              <a:rPr lang="en-US" dirty="0"/>
              <a:t>Yauka.Cheung@etamu.edu</a:t>
            </a:r>
          </a:p>
          <a:p>
            <a:r>
              <a:rPr lang="en-US" dirty="0"/>
              <a:t>ACB1 Room 335</a:t>
            </a:r>
          </a:p>
        </p:txBody>
      </p:sp>
    </p:spTree>
    <p:extLst>
      <p:ext uri="{BB962C8B-B14F-4D97-AF65-F5344CB8AC3E}">
        <p14:creationId xmlns:p14="http://schemas.microsoft.com/office/powerpoint/2010/main" val="2545187015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" id="{C1FC209B-AB5F-A24B-8E3E-7ED735672D5E}" vid="{36A724C9-81FA-524F-8587-3AC47E1EA7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3418</TotalTime>
  <Words>2324</Words>
  <Application>Microsoft Macintosh PowerPoint</Application>
  <PresentationFormat>Widescreen</PresentationFormat>
  <Paragraphs>233</Paragraphs>
  <Slides>54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Consolas</vt:lpstr>
      <vt:lpstr>Segoe Print</vt:lpstr>
      <vt:lpstr>Tenorite</vt:lpstr>
      <vt:lpstr>Minimalist</vt:lpstr>
      <vt:lpstr>CSCI 352.61E Digital Forensics</vt:lpstr>
      <vt:lpstr>Investigate Data Leakage Case </vt:lpstr>
      <vt:lpstr>Goals</vt:lpstr>
      <vt:lpstr>Layers of a computer system</vt:lpstr>
      <vt:lpstr>12. List all traces about the system on/off and the user logon/logoff (It should be considered only during a time range between 09:00 and 18:00 in the timezone (Eastern Time) from Question 4.</vt:lpstr>
      <vt:lpstr>PowerPoint Presentation</vt:lpstr>
      <vt:lpstr>How to search events?</vt:lpstr>
      <vt:lpstr>Overview approach</vt:lpstr>
      <vt:lpstr>Get a copy of security event log</vt:lpstr>
      <vt:lpstr>PowerPoint Presentation</vt:lpstr>
      <vt:lpstr>What is XML</vt:lpstr>
      <vt:lpstr>Install XML parser</vt:lpstr>
      <vt:lpstr>xmlstarlet</vt:lpstr>
      <vt:lpstr>PowerPoint Presentation</vt:lpstr>
      <vt:lpstr>PowerPoint Presentation</vt:lpstr>
      <vt:lpstr>PowerPoint Presentation</vt:lpstr>
      <vt:lpstr>PowerPoint Presentation</vt:lpstr>
      <vt:lpstr>validating XML documents</vt:lpstr>
      <vt:lpstr>PowerPoint Presentation</vt:lpstr>
      <vt:lpstr>Display element structure of XML document </vt:lpstr>
      <vt:lpstr>PowerPoint Presentation</vt:lpstr>
      <vt:lpstr>PowerPoint Presentation</vt:lpstr>
      <vt:lpstr>PowerPoint Presentation</vt:lpstr>
      <vt:lpstr>PowerPoint Presentation</vt:lpstr>
      <vt:lpstr>format XML document</vt:lpstr>
      <vt:lpstr>PowerPoint Presentation</vt:lpstr>
      <vt:lpstr>PowerPoint Presentation</vt:lpstr>
      <vt:lpstr>select data or query XML document(s) (XPATH, etc)</vt:lpstr>
      <vt:lpstr>PowerPoint Presentation</vt:lpstr>
      <vt:lpstr>PowerPoint Presentation</vt:lpstr>
      <vt:lpstr>Xpath expressions </vt:lpstr>
      <vt:lpstr>Xpath expressions </vt:lpstr>
      <vt:lpstr>PowerPoint Presentation</vt:lpstr>
      <vt:lpstr>PowerPoint Presentation</vt:lpstr>
      <vt:lpstr>PowerPoint Presentation</vt:lpstr>
      <vt:lpstr>Substitute xmlstarlet sel results using sed</vt:lpstr>
      <vt:lpstr>stream editor</vt:lpstr>
      <vt:lpstr>PowerPoint Presentation</vt:lpstr>
      <vt:lpstr>PowerPoint Presentation</vt:lpstr>
      <vt:lpstr>PowerPoint Presentation</vt:lpstr>
      <vt:lpstr>edit XML document(s) </vt:lpstr>
      <vt:lpstr>PowerPoint Presentation</vt:lpstr>
      <vt:lpstr>PowerPoint Presentation</vt:lpstr>
      <vt:lpstr>PowerPoint Presentation</vt:lpstr>
      <vt:lpstr>PowerPoint Presentation</vt:lpstr>
      <vt:lpstr>Deleting namespace declarations</vt:lpstr>
      <vt:lpstr>PowerPoint Presentation</vt:lpstr>
      <vt:lpstr>PowerPoint Presentation</vt:lpstr>
      <vt:lpstr>PowerPoint Presentation</vt:lpstr>
      <vt:lpstr>Transforming an XML Document into a CSV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cp:lastModifiedBy>Yauka Cheung</cp:lastModifiedBy>
  <cp:revision>91</cp:revision>
  <dcterms:created xsi:type="dcterms:W3CDTF">2024-01-04T07:32:45Z</dcterms:created>
  <dcterms:modified xsi:type="dcterms:W3CDTF">2026-03-31T10:29:19Z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